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1695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347F29-E25F-37DD-1D83-B9DD706C28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685745-BAE9-09CB-5DBB-6632F142EB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1798E-7919-6C77-5536-22129776F8C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8831D8-B17A-DFBF-413D-21066181D08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5762E0-1B96-5E44-29E9-10317CC09A7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4FF117-A71F-E6D4-3595-F708AAB9343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AEC389D-C19B-6A9A-CE10-2BE1B1ADC84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FD8AAF-D068-8696-9686-11AB0282809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E3CEB2-200F-D8A5-74EF-8037B5B213B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8410742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13057692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7566254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7247990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8381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02778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3728772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4049461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86542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0354180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8390261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6834870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260464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3117193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92388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0888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02213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597270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59211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3717909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693170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1038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335831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023645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780097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653450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4386785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92450096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99064994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17577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89866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5718243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5559827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502181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69052674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1314411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310443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9328013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110256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815163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8317624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0031734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30828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83411396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44914073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3846902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6899948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2308778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5266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6431708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0931368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384958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0655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70218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139170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3639202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2737303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5169449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29373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209337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439418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1848594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7491500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80A1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6552242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12191694" cy="6804666"/>
          </a:xfrm>
          <a:prstGeom prst="rect">
            <a:avLst/>
          </a:prstGeom>
        </p:spPr>
      </p:pic>
      <p:sp>
        <p:nvSpPr>
          <p:cNvPr id="709351868" name="Rectangle 1"/>
          <p:cNvSpPr/>
          <p:nvPr/>
        </p:nvSpPr>
        <p:spPr bwMode="auto">
          <a:xfrm>
            <a:off x="0" y="0"/>
            <a:ext cx="12191695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29470614" name="Rectangle 2"/>
          <p:cNvSpPr/>
          <p:nvPr/>
        </p:nvSpPr>
        <p:spPr bwMode="auto">
          <a:xfrm>
            <a:off x="0" y="6784848"/>
            <a:ext cx="12191695" cy="73152"/>
          </a:xfrm>
          <a:prstGeom prst="rect">
            <a:avLst/>
          </a:prstGeom>
          <a:solidFill>
            <a:srgbClr val="3D9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27435306" name="TextBox 5"/>
          <p:cNvSpPr txBox="1"/>
          <p:nvPr/>
        </p:nvSpPr>
        <p:spPr bwMode="auto">
          <a:xfrm>
            <a:off x="1066647" y="4245535"/>
            <a:ext cx="10058400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800" b="0">
                <a:solidFill>
                  <a:srgbClr val="A0A0A0"/>
                </a:solidFill>
                <a:latin typeface="Calibri"/>
              </a:defRPr>
            </a:pPr>
            <a:r>
              <a:rPr sz="1500" b="0">
                <a:solidFill>
                  <a:schemeClr val="bg1"/>
                </a:solidFill>
              </a:rPr>
              <a:t>AMD Developer Hackathon ACT II — Track 1</a:t>
            </a:r>
            <a:endParaRPr sz="1500" b="0">
              <a:solidFill>
                <a:schemeClr val="bg1"/>
              </a:solidFill>
            </a:endParaRPr>
          </a:p>
        </p:txBody>
      </p:sp>
      <p:sp>
        <p:nvSpPr>
          <p:cNvPr id="1991911338" name="Rectangle 6"/>
          <p:cNvSpPr/>
          <p:nvPr/>
        </p:nvSpPr>
        <p:spPr bwMode="auto">
          <a:xfrm>
            <a:off x="4114800" y="3657600"/>
            <a:ext cx="3657600" cy="2743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01702565" name="TextBox 7"/>
          <p:cNvSpPr txBox="1"/>
          <p:nvPr/>
        </p:nvSpPr>
        <p:spPr bwMode="auto">
          <a:xfrm>
            <a:off x="979767" y="5869640"/>
            <a:ext cx="100584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400" b="0">
                <a:solidFill>
                  <a:srgbClr val="A0A0A0"/>
                </a:solidFill>
                <a:latin typeface="Calibri"/>
              </a:defRPr>
            </a:pPr>
            <a:r>
              <a:rPr lang="es-ES" sz="2000" b="1">
                <a:solidFill>
                  <a:schemeClr val="bg1"/>
                </a:solidFill>
              </a:rPr>
              <a:t>Sebastian Balanta</a:t>
            </a:r>
            <a:endParaRPr sz="2000" b="1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E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432876" name="Rectangle 1"/>
          <p:cNvSpPr/>
          <p:nvPr/>
        </p:nvSpPr>
        <p:spPr bwMode="auto">
          <a:xfrm>
            <a:off x="0" y="0"/>
            <a:ext cx="12191695" cy="54864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85718131" name="TextBox 2"/>
          <p:cNvSpPr txBox="1"/>
          <p:nvPr/>
        </p:nvSpPr>
        <p:spPr bwMode="auto"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4000" b="1">
                <a:solidFill>
                  <a:srgbClr val="FFBF00"/>
                </a:solidFill>
                <a:latin typeface="Calibri"/>
              </a:defRPr>
            </a:pPr>
            <a:r>
              <a:rPr/>
              <a:t>The Challenge</a:t>
            </a:r>
            <a:endParaRPr/>
          </a:p>
        </p:txBody>
      </p:sp>
      <p:sp>
        <p:nvSpPr>
          <p:cNvPr id="934610406" name="Rounded Rectangle 3"/>
          <p:cNvSpPr/>
          <p:nvPr/>
        </p:nvSpPr>
        <p:spPr bwMode="auto">
          <a:xfrm flipH="0" flipV="0">
            <a:off x="731519" y="1280160"/>
            <a:ext cx="5303520" cy="214884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27987262" name="TextBox 4"/>
          <p:cNvSpPr txBox="1"/>
          <p:nvPr/>
        </p:nvSpPr>
        <p:spPr bwMode="auto">
          <a:xfrm>
            <a:off x="960120" y="1417319"/>
            <a:ext cx="484632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FFBF00"/>
                </a:solidFill>
                <a:latin typeface="Calibri"/>
              </a:defRPr>
            </a:pPr>
            <a:r>
              <a:rPr/>
              <a:t>Accuracy vs Cost Tradeoff</a:t>
            </a:r>
            <a:endParaRPr/>
          </a:p>
        </p:txBody>
      </p:sp>
      <p:sp>
        <p:nvSpPr>
          <p:cNvPr id="389560896" name="TextBox 5"/>
          <p:cNvSpPr txBox="1"/>
          <p:nvPr/>
        </p:nvSpPr>
        <p:spPr bwMode="auto">
          <a:xfrm>
            <a:off x="960120" y="1874519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C0C0C0"/>
                </a:solidFill>
                <a:latin typeface="Calibri"/>
              </a:defRPr>
            </a:pPr>
            <a:r>
              <a:rPr/>
              <a:t>- No single model excels at every task type</a:t>
            </a:r>
            <a:endParaRPr/>
          </a:p>
        </p:txBody>
      </p:sp>
      <p:sp>
        <p:nvSpPr>
          <p:cNvPr id="1851226251" name="TextBox 6"/>
          <p:cNvSpPr txBox="1"/>
          <p:nvPr/>
        </p:nvSpPr>
        <p:spPr bwMode="auto">
          <a:xfrm>
            <a:off x="960120" y="2167127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C0C0C0"/>
                </a:solidFill>
                <a:latin typeface="Calibri"/>
              </a:defRPr>
            </a:pPr>
            <a:r>
              <a:rPr/>
              <a:t>- Premium models cost 10-100x more per token</a:t>
            </a:r>
            <a:endParaRPr/>
          </a:p>
        </p:txBody>
      </p:sp>
      <p:sp>
        <p:nvSpPr>
          <p:cNvPr id="138833749" name="TextBox 7"/>
          <p:cNvSpPr txBox="1"/>
          <p:nvPr/>
        </p:nvSpPr>
        <p:spPr bwMode="auto">
          <a:xfrm>
            <a:off x="960120" y="2459735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C0C0C0"/>
                </a:solidFill>
                <a:latin typeface="Calibri"/>
              </a:defRPr>
            </a:pPr>
            <a:r>
              <a:rPr/>
              <a:t>- </a:t>
            </a:r>
            <a:r>
              <a:rPr b="1"/>
              <a:t>Waste</a:t>
            </a:r>
            <a:r>
              <a:rPr/>
              <a:t>: routing every query to the largest model</a:t>
            </a:r>
            <a:endParaRPr/>
          </a:p>
        </p:txBody>
      </p:sp>
      <p:sp>
        <p:nvSpPr>
          <p:cNvPr id="446017786" name="TextBox 8"/>
          <p:cNvSpPr txBox="1"/>
          <p:nvPr/>
        </p:nvSpPr>
        <p:spPr bwMode="auto">
          <a:xfrm>
            <a:off x="960120" y="2752343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C0C0C0"/>
                </a:solidFill>
                <a:latin typeface="Calibri"/>
              </a:defRPr>
            </a:pPr>
            <a:r>
              <a:rPr/>
              <a:t>- Manual model selection doesn't scale</a:t>
            </a:r>
            <a:endParaRPr/>
          </a:p>
        </p:txBody>
      </p:sp>
      <p:sp>
        <p:nvSpPr>
          <p:cNvPr id="1390523677" name="TextBox 9"/>
          <p:cNvSpPr txBox="1"/>
          <p:nvPr/>
        </p:nvSpPr>
        <p:spPr bwMode="auto">
          <a:xfrm>
            <a:off x="960120" y="3044951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C0C0C0"/>
                </a:solidFill>
                <a:latin typeface="Calibri"/>
              </a:defRPr>
            </a:pPr>
            <a:r>
              <a:rPr/>
              <a:t>- 14 diverse benchmark tasks across 8 categories</a:t>
            </a:r>
            <a:endParaRPr/>
          </a:p>
        </p:txBody>
      </p:sp>
      <p:sp>
        <p:nvSpPr>
          <p:cNvPr id="136439000" name="Rounded Rectangle 10"/>
          <p:cNvSpPr/>
          <p:nvPr/>
        </p:nvSpPr>
        <p:spPr bwMode="auto">
          <a:xfrm flipH="0" flipV="0">
            <a:off x="6400800" y="1280160"/>
            <a:ext cx="5303520" cy="2401618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1753330" name="TextBox 11"/>
          <p:cNvSpPr txBox="1"/>
          <p:nvPr/>
        </p:nvSpPr>
        <p:spPr bwMode="auto">
          <a:xfrm>
            <a:off x="6629400" y="1417319"/>
            <a:ext cx="484632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rPr/>
              <a:t>Why It Matters</a:t>
            </a:r>
            <a:endParaRPr/>
          </a:p>
        </p:txBody>
      </p:sp>
      <p:sp>
        <p:nvSpPr>
          <p:cNvPr id="2035790495" name="TextBox 12"/>
          <p:cNvSpPr txBox="1"/>
          <p:nvPr/>
        </p:nvSpPr>
        <p:spPr bwMode="auto">
          <a:xfrm>
            <a:off x="6629400" y="1874519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C0C0C0"/>
                </a:solidFill>
                <a:latin typeface="Calibri"/>
              </a:defRPr>
            </a:pPr>
            <a:r>
              <a:rPr/>
              <a:t>- Token budgets </a:t>
            </a:r>
            <a:r>
              <a:rPr b="1"/>
              <a:t>are limited</a:t>
            </a:r>
            <a:r>
              <a:rPr lang="es-ES"/>
              <a:t>,</a:t>
            </a:r>
            <a:r>
              <a:rPr/>
              <a:t> every call counts</a:t>
            </a:r>
            <a:endParaRPr/>
          </a:p>
        </p:txBody>
      </p:sp>
      <p:sp>
        <p:nvSpPr>
          <p:cNvPr id="581521756" name="TextBox 13"/>
          <p:cNvSpPr txBox="1"/>
          <p:nvPr/>
        </p:nvSpPr>
        <p:spPr bwMode="auto">
          <a:xfrm>
            <a:off x="6629400" y="2167127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C0C0C0"/>
                </a:solidFill>
                <a:latin typeface="Calibri"/>
              </a:defRPr>
            </a:pPr>
            <a:r>
              <a:rPr/>
              <a:t>- Smaller models respond 3-5x faster</a:t>
            </a:r>
            <a:endParaRPr/>
          </a:p>
        </p:txBody>
      </p:sp>
      <p:sp>
        <p:nvSpPr>
          <p:cNvPr id="1599412926" name="TextBox 14"/>
          <p:cNvSpPr txBox="1"/>
          <p:nvPr/>
        </p:nvSpPr>
        <p:spPr bwMode="auto">
          <a:xfrm>
            <a:off x="6629400" y="2459735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C0C0C0"/>
                </a:solidFill>
                <a:latin typeface="Calibri"/>
              </a:defRPr>
            </a:pPr>
            <a:r>
              <a:rPr/>
              <a:t>- Hackathon constraint: $50 credit must last</a:t>
            </a:r>
            <a:endParaRPr/>
          </a:p>
        </p:txBody>
      </p:sp>
      <p:sp>
        <p:nvSpPr>
          <p:cNvPr id="1846449672" name="TextBox 15"/>
          <p:cNvSpPr txBox="1"/>
          <p:nvPr/>
        </p:nvSpPr>
        <p:spPr bwMode="auto">
          <a:xfrm>
            <a:off x="6629400" y="2752343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C0C0C0"/>
                </a:solidFill>
                <a:latin typeface="Calibri"/>
              </a:defRPr>
            </a:pPr>
            <a:r>
              <a:rPr/>
              <a:t>- </a:t>
            </a:r>
            <a:r>
              <a:rPr b="1"/>
              <a:t>Gemma Prize</a:t>
            </a:r>
            <a:r>
              <a:rPr/>
              <a:t> requires efficient routing</a:t>
            </a:r>
            <a:endParaRPr/>
          </a:p>
        </p:txBody>
      </p:sp>
      <p:sp>
        <p:nvSpPr>
          <p:cNvPr id="692910635" name="TextBox 16"/>
          <p:cNvSpPr txBox="1"/>
          <p:nvPr/>
        </p:nvSpPr>
        <p:spPr bwMode="auto">
          <a:xfrm>
            <a:off x="6629400" y="3044951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400" b="0">
                <a:solidFill>
                  <a:srgbClr val="C0C0C0"/>
                </a:solidFill>
                <a:latin typeface="Calibri"/>
              </a:defRPr>
            </a:pPr>
            <a:r>
              <a:rPr/>
              <a:t>- Solution: intelligent task-aware dispatch</a:t>
            </a:r>
            <a:endParaRPr/>
          </a:p>
        </p:txBody>
      </p:sp>
      <p:pic>
        <p:nvPicPr>
          <p:cNvPr id="173153897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51071" y="3681778"/>
            <a:ext cx="4306501" cy="28710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E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293312" name="Rectangle 1"/>
          <p:cNvSpPr/>
          <p:nvPr/>
        </p:nvSpPr>
        <p:spPr bwMode="auto">
          <a:xfrm>
            <a:off x="0" y="0"/>
            <a:ext cx="12191695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23179388" name="TextBox 2"/>
          <p:cNvSpPr txBox="1"/>
          <p:nvPr/>
        </p:nvSpPr>
        <p:spPr bwMode="auto">
          <a:xfrm>
            <a:off x="914400" y="274320"/>
            <a:ext cx="10058400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4000" b="1">
                <a:solidFill>
                  <a:srgbClr val="00D4AA"/>
                </a:solidFill>
                <a:latin typeface="Calibri"/>
              </a:defRPr>
            </a:pPr>
            <a:r>
              <a:rPr/>
              <a:t>Architecture</a:t>
            </a:r>
            <a:endParaRPr/>
          </a:p>
        </p:txBody>
      </p:sp>
      <p:sp>
        <p:nvSpPr>
          <p:cNvPr id="1213154698" name="TextBox 3"/>
          <p:cNvSpPr txBox="1"/>
          <p:nvPr/>
        </p:nvSpPr>
        <p:spPr bwMode="auto">
          <a:xfrm>
            <a:off x="914400" y="822960"/>
            <a:ext cx="1005840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600" b="0">
                <a:solidFill>
                  <a:srgbClr val="A0A0A0"/>
                </a:solidFill>
                <a:latin typeface="Calibri"/>
              </a:defRPr>
            </a:pPr>
            <a:r>
              <a:rPr/>
              <a:t>Classifier -&gt; Selector -&gt; Router -&gt; </a:t>
            </a:r>
            <a:r>
              <a:rPr b="1"/>
              <a:t>Evaluator</a:t>
            </a:r>
            <a:endParaRPr/>
          </a:p>
        </p:txBody>
      </p:sp>
      <p:sp>
        <p:nvSpPr>
          <p:cNvPr id="1825899696" name="Rounded Rectangle 4"/>
          <p:cNvSpPr/>
          <p:nvPr/>
        </p:nvSpPr>
        <p:spPr bwMode="auto">
          <a:xfrm flipH="0" flipV="0">
            <a:off x="457200" y="1645920"/>
            <a:ext cx="2560320" cy="1376435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73062740" name="TextBox 5"/>
          <p:cNvSpPr txBox="1"/>
          <p:nvPr/>
        </p:nvSpPr>
        <p:spPr bwMode="auto">
          <a:xfrm>
            <a:off x="685800" y="1783080"/>
            <a:ext cx="210312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3D9DF3"/>
                </a:solidFill>
                <a:latin typeface="Calibri"/>
              </a:defRPr>
            </a:pPr>
            <a:r>
              <a:rPr/>
              <a:t>Gemma 4 26B</a:t>
            </a:r>
            <a:endParaRPr/>
          </a:p>
        </p:txBody>
      </p:sp>
      <p:sp>
        <p:nvSpPr>
          <p:cNvPr id="507205453" name="TextBox 6"/>
          <p:cNvSpPr txBox="1"/>
          <p:nvPr/>
        </p:nvSpPr>
        <p:spPr bwMode="auto">
          <a:xfrm>
            <a:off x="685800" y="2240280"/>
            <a:ext cx="21031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C0C0C0"/>
                </a:solidFill>
                <a:latin typeface="Calibri"/>
              </a:defRPr>
            </a:pPr>
            <a:r>
              <a:rPr/>
              <a:t>- Dedicated H200 - Reasoning, Creative</a:t>
            </a:r>
            <a:endParaRPr/>
          </a:p>
        </p:txBody>
      </p:sp>
      <p:sp>
        <p:nvSpPr>
          <p:cNvPr id="1392528116" name="Rounded Rectangle 7"/>
          <p:cNvSpPr/>
          <p:nvPr/>
        </p:nvSpPr>
        <p:spPr bwMode="auto">
          <a:xfrm flipH="0" flipV="0">
            <a:off x="3383280" y="1645920"/>
            <a:ext cx="2560320" cy="1376435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84579251" name="TextBox 8"/>
          <p:cNvSpPr txBox="1"/>
          <p:nvPr/>
        </p:nvSpPr>
        <p:spPr bwMode="auto">
          <a:xfrm>
            <a:off x="3611880" y="1783080"/>
            <a:ext cx="210312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3D9DF3"/>
                </a:solidFill>
                <a:latin typeface="Calibri"/>
              </a:defRPr>
            </a:pPr>
            <a:r>
              <a:rPr/>
              <a:t>Gemma 4 E4B</a:t>
            </a:r>
            <a:endParaRPr/>
          </a:p>
        </p:txBody>
      </p:sp>
      <p:sp>
        <p:nvSpPr>
          <p:cNvPr id="1505138148" name="TextBox 9"/>
          <p:cNvSpPr txBox="1"/>
          <p:nvPr/>
        </p:nvSpPr>
        <p:spPr bwMode="auto">
          <a:xfrm>
            <a:off x="3611880" y="2240280"/>
            <a:ext cx="21031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C0C0C0"/>
                </a:solidFill>
                <a:latin typeface="Calibri"/>
              </a:defRPr>
            </a:pPr>
            <a:r>
              <a:rPr/>
              <a:t>- Local ROCm/llama.cpp - Ranking</a:t>
            </a:r>
            <a:endParaRPr/>
          </a:p>
        </p:txBody>
      </p:sp>
      <p:sp>
        <p:nvSpPr>
          <p:cNvPr id="242792332" name="Rounded Rectangle 10"/>
          <p:cNvSpPr/>
          <p:nvPr/>
        </p:nvSpPr>
        <p:spPr bwMode="auto">
          <a:xfrm flipH="0" flipV="0">
            <a:off x="6309360" y="1645920"/>
            <a:ext cx="2560320" cy="1376435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13418468" name="TextBox 11"/>
          <p:cNvSpPr txBox="1"/>
          <p:nvPr/>
        </p:nvSpPr>
        <p:spPr bwMode="auto">
          <a:xfrm>
            <a:off x="6537960" y="1783080"/>
            <a:ext cx="210312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rPr/>
              <a:t>DeepSeek V4 Pro</a:t>
            </a:r>
            <a:endParaRPr/>
          </a:p>
        </p:txBody>
      </p:sp>
      <p:sp>
        <p:nvSpPr>
          <p:cNvPr id="733949736" name="TextBox 12"/>
          <p:cNvSpPr txBox="1"/>
          <p:nvPr/>
        </p:nvSpPr>
        <p:spPr bwMode="auto">
          <a:xfrm>
            <a:off x="6537960" y="2240280"/>
            <a:ext cx="21031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C0C0C0"/>
                </a:solidFill>
                <a:latin typeface="Calibri"/>
              </a:defRPr>
            </a:pPr>
            <a:r>
              <a:rPr/>
              <a:t>- Serverless - Code, Math</a:t>
            </a:r>
            <a:endParaRPr/>
          </a:p>
        </p:txBody>
      </p:sp>
      <p:sp>
        <p:nvSpPr>
          <p:cNvPr id="216283944" name="Rounded Rectangle 13"/>
          <p:cNvSpPr/>
          <p:nvPr/>
        </p:nvSpPr>
        <p:spPr bwMode="auto">
          <a:xfrm flipH="0" flipV="0">
            <a:off x="9235440" y="1645920"/>
            <a:ext cx="2560320" cy="1376435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90655983" name="TextBox 14"/>
          <p:cNvSpPr txBox="1"/>
          <p:nvPr/>
        </p:nvSpPr>
        <p:spPr bwMode="auto">
          <a:xfrm>
            <a:off x="9464040" y="1783080"/>
            <a:ext cx="210312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rPr/>
              <a:t>GLM 5.2</a:t>
            </a:r>
            <a:endParaRPr/>
          </a:p>
        </p:txBody>
      </p:sp>
      <p:sp>
        <p:nvSpPr>
          <p:cNvPr id="715312266" name="TextBox 15"/>
          <p:cNvSpPr txBox="1"/>
          <p:nvPr/>
        </p:nvSpPr>
        <p:spPr bwMode="auto">
          <a:xfrm>
            <a:off x="9464040" y="2240280"/>
            <a:ext cx="21031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C0C0C0"/>
                </a:solidFill>
                <a:latin typeface="Calibri"/>
              </a:defRPr>
            </a:pPr>
            <a:r>
              <a:rPr/>
              <a:t>- Serverless - Complex reasoning</a:t>
            </a:r>
            <a:endParaRPr/>
          </a:p>
        </p:txBody>
      </p:sp>
      <p:pic>
        <p:nvPicPr>
          <p:cNvPr id="183234161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0" y="4264646"/>
            <a:ext cx="12191694" cy="2559649"/>
          </a:xfrm>
          <a:prstGeom prst="rect">
            <a:avLst/>
          </a:prstGeom>
        </p:spPr>
      </p:pic>
      <p:cxnSp>
        <p:nvCxnSpPr>
          <p:cNvPr id="1582036064" name=""/>
          <p:cNvCxnSpPr/>
          <p:nvPr/>
        </p:nvCxnSpPr>
        <p:spPr bwMode="auto">
          <a:xfrm flipH="0" flipV="0">
            <a:off x="0" y="4264646"/>
            <a:ext cx="12191694" cy="0"/>
          </a:xfrm>
          <a:prstGeom prst="line">
            <a:avLst/>
          </a:prstGeom>
          <a:ln w="9525" cap="flat" cmpd="sng" algn="ctr">
            <a:solidFill>
              <a:srgbClr val="00B0F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E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11450" name="Rectangle 1"/>
          <p:cNvSpPr/>
          <p:nvPr/>
        </p:nvSpPr>
        <p:spPr bwMode="auto">
          <a:xfrm>
            <a:off x="0" y="0"/>
            <a:ext cx="12191695" cy="54864"/>
          </a:xfrm>
          <a:prstGeom prst="rect">
            <a:avLst/>
          </a:prstGeom>
          <a:solidFill>
            <a:srgbClr val="3D9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29260968" name="TextBox 2"/>
          <p:cNvSpPr txBox="1"/>
          <p:nvPr/>
        </p:nvSpPr>
        <p:spPr bwMode="auto"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4000" b="1">
                <a:solidFill>
                  <a:srgbClr val="3D9DF3"/>
                </a:solidFill>
                <a:latin typeface="Calibri"/>
              </a:defRPr>
            </a:pPr>
            <a:r>
              <a:rPr/>
              <a:t>Routing Flow</a:t>
            </a:r>
            <a:endParaRPr/>
          </a:p>
        </p:txBody>
      </p:sp>
      <p:sp>
        <p:nvSpPr>
          <p:cNvPr id="552941652" name="TextBox 3"/>
          <p:cNvSpPr txBox="1"/>
          <p:nvPr/>
        </p:nvSpPr>
        <p:spPr bwMode="auto">
          <a:xfrm>
            <a:off x="914400" y="1188720"/>
            <a:ext cx="22860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Calibri"/>
              </a:defRPr>
            </a:pPr>
            <a:r>
              <a:rPr/>
              <a:t>Classify</a:t>
            </a:r>
            <a:endParaRPr/>
          </a:p>
        </p:txBody>
      </p:sp>
      <p:sp>
        <p:nvSpPr>
          <p:cNvPr id="1223410364" name="TextBox 4"/>
          <p:cNvSpPr txBox="1"/>
          <p:nvPr/>
        </p:nvSpPr>
        <p:spPr bwMode="auto">
          <a:xfrm>
            <a:off x="3200400" y="1188720"/>
            <a:ext cx="73152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500" b="0">
                <a:solidFill>
                  <a:srgbClr val="A0A0A0"/>
                </a:solidFill>
                <a:latin typeface="Calibri"/>
              </a:defRPr>
            </a:pPr>
            <a:r>
              <a:rPr/>
              <a:t>Analyze prompt -&gt; MATH, CODE, REASONING, FACTOID, etc.</a:t>
            </a:r>
            <a:endParaRPr/>
          </a:p>
        </p:txBody>
      </p:sp>
      <p:sp>
        <p:nvSpPr>
          <p:cNvPr id="542848070" name="Rectangle 5"/>
          <p:cNvSpPr/>
          <p:nvPr/>
        </p:nvSpPr>
        <p:spPr bwMode="auto">
          <a:xfrm>
            <a:off x="1371600" y="1645920"/>
            <a:ext cx="27432" cy="228600"/>
          </a:xfrm>
          <a:prstGeom prst="rect">
            <a:avLst/>
          </a:prstGeom>
          <a:solidFill>
            <a:srgbClr val="3D9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74080256" name="TextBox 6"/>
          <p:cNvSpPr txBox="1"/>
          <p:nvPr/>
        </p:nvSpPr>
        <p:spPr bwMode="auto">
          <a:xfrm>
            <a:off x="914400" y="1965960"/>
            <a:ext cx="22860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Calibri"/>
              </a:defRPr>
            </a:pPr>
            <a:r>
              <a:rPr/>
              <a:t>Select</a:t>
            </a:r>
            <a:endParaRPr/>
          </a:p>
        </p:txBody>
      </p:sp>
      <p:sp>
        <p:nvSpPr>
          <p:cNvPr id="2083552768" name="TextBox 7"/>
          <p:cNvSpPr txBox="1"/>
          <p:nvPr/>
        </p:nvSpPr>
        <p:spPr bwMode="auto">
          <a:xfrm>
            <a:off x="3200400" y="1965960"/>
            <a:ext cx="73152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500" b="0">
                <a:solidFill>
                  <a:srgbClr val="A0A0A0"/>
                </a:solidFill>
                <a:latin typeface="Calibri"/>
              </a:defRPr>
            </a:pPr>
            <a:r>
              <a:rPr/>
              <a:t>Pick optimal model per task + max_tokens</a:t>
            </a:r>
            <a:endParaRPr/>
          </a:p>
        </p:txBody>
      </p:sp>
      <p:sp>
        <p:nvSpPr>
          <p:cNvPr id="1363690372" name="Rectangle 8"/>
          <p:cNvSpPr/>
          <p:nvPr/>
        </p:nvSpPr>
        <p:spPr bwMode="auto">
          <a:xfrm>
            <a:off x="1371600" y="2423160"/>
            <a:ext cx="27432" cy="228600"/>
          </a:xfrm>
          <a:prstGeom prst="rect">
            <a:avLst/>
          </a:prstGeom>
          <a:solidFill>
            <a:srgbClr val="3D9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48136983" name="TextBox 9"/>
          <p:cNvSpPr txBox="1"/>
          <p:nvPr/>
        </p:nvSpPr>
        <p:spPr bwMode="auto">
          <a:xfrm>
            <a:off x="914400" y="2743200"/>
            <a:ext cx="22860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Calibri"/>
              </a:defRPr>
            </a:pPr>
            <a:r>
              <a:rPr/>
              <a:t>Route</a:t>
            </a:r>
            <a:endParaRPr/>
          </a:p>
        </p:txBody>
      </p:sp>
      <p:sp>
        <p:nvSpPr>
          <p:cNvPr id="308571639" name="TextBox 10"/>
          <p:cNvSpPr txBox="1"/>
          <p:nvPr/>
        </p:nvSpPr>
        <p:spPr bwMode="auto">
          <a:xfrm>
            <a:off x="3200400" y="2743200"/>
            <a:ext cx="73152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500" b="0">
                <a:solidFill>
                  <a:srgbClr val="A0A0A0"/>
                </a:solidFill>
                <a:latin typeface="Calibri"/>
              </a:defRPr>
            </a:pPr>
            <a:r>
              <a:rPr/>
              <a:t>Call model via Fireworks API or local llama.cpp</a:t>
            </a:r>
            <a:endParaRPr/>
          </a:p>
        </p:txBody>
      </p:sp>
      <p:sp>
        <p:nvSpPr>
          <p:cNvPr id="1481800868" name="Rectangle 11"/>
          <p:cNvSpPr/>
          <p:nvPr/>
        </p:nvSpPr>
        <p:spPr bwMode="auto">
          <a:xfrm>
            <a:off x="1371600" y="3200400"/>
            <a:ext cx="27432" cy="228600"/>
          </a:xfrm>
          <a:prstGeom prst="rect">
            <a:avLst/>
          </a:prstGeom>
          <a:solidFill>
            <a:srgbClr val="3D9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38003735" name="TextBox 12"/>
          <p:cNvSpPr txBox="1"/>
          <p:nvPr/>
        </p:nvSpPr>
        <p:spPr bwMode="auto">
          <a:xfrm>
            <a:off x="914400" y="3520439"/>
            <a:ext cx="22860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Calibri"/>
              </a:defRPr>
            </a:pPr>
            <a:r>
              <a:rPr/>
              <a:t>Evaluate</a:t>
            </a:r>
            <a:endParaRPr/>
          </a:p>
        </p:txBody>
      </p:sp>
      <p:sp>
        <p:nvSpPr>
          <p:cNvPr id="1272940952" name="TextBox 13"/>
          <p:cNvSpPr txBox="1"/>
          <p:nvPr/>
        </p:nvSpPr>
        <p:spPr bwMode="auto">
          <a:xfrm>
            <a:off x="3200400" y="3520439"/>
            <a:ext cx="73152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500" b="0">
                <a:solidFill>
                  <a:srgbClr val="A0A0A0"/>
                </a:solidFill>
                <a:latin typeface="Calibri"/>
              </a:defRPr>
            </a:pPr>
            <a:r>
              <a:rPr/>
              <a:t>Score response accuracy, detect failures</a:t>
            </a:r>
            <a:endParaRPr/>
          </a:p>
        </p:txBody>
      </p:sp>
      <p:sp>
        <p:nvSpPr>
          <p:cNvPr id="1444321302" name="Rectangle 14"/>
          <p:cNvSpPr/>
          <p:nvPr/>
        </p:nvSpPr>
        <p:spPr bwMode="auto">
          <a:xfrm>
            <a:off x="1371600" y="3977639"/>
            <a:ext cx="27432" cy="228600"/>
          </a:xfrm>
          <a:prstGeom prst="rect">
            <a:avLst/>
          </a:prstGeom>
          <a:solidFill>
            <a:srgbClr val="3D9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91572200" name="TextBox 15"/>
          <p:cNvSpPr txBox="1"/>
          <p:nvPr/>
        </p:nvSpPr>
        <p:spPr bwMode="auto">
          <a:xfrm>
            <a:off x="914400" y="4297680"/>
            <a:ext cx="22860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Calibri"/>
              </a:defRPr>
            </a:pPr>
            <a:r>
              <a:rPr/>
              <a:t>Fallback</a:t>
            </a:r>
            <a:endParaRPr/>
          </a:p>
        </p:txBody>
      </p:sp>
      <p:sp>
        <p:nvSpPr>
          <p:cNvPr id="1958237461" name="TextBox 16"/>
          <p:cNvSpPr txBox="1"/>
          <p:nvPr/>
        </p:nvSpPr>
        <p:spPr bwMode="auto">
          <a:xfrm>
            <a:off x="3200400" y="4297680"/>
            <a:ext cx="73152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500" b="0">
                <a:solidFill>
                  <a:srgbClr val="A0A0A0"/>
                </a:solidFill>
                <a:latin typeface="Calibri"/>
              </a:defRPr>
            </a:pPr>
            <a:r>
              <a:rPr/>
              <a:t>If score too low, try next model in chain</a:t>
            </a:r>
            <a:endParaRPr/>
          </a:p>
        </p:txBody>
      </p:sp>
      <p:sp>
        <p:nvSpPr>
          <p:cNvPr id="691461645" name="Rectangle 17"/>
          <p:cNvSpPr/>
          <p:nvPr/>
        </p:nvSpPr>
        <p:spPr bwMode="auto">
          <a:xfrm>
            <a:off x="1371600" y="4754880"/>
            <a:ext cx="27432" cy="228600"/>
          </a:xfrm>
          <a:prstGeom prst="rect">
            <a:avLst/>
          </a:prstGeom>
          <a:solidFill>
            <a:srgbClr val="3D9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02143513" name="TextBox 18"/>
          <p:cNvSpPr txBox="1"/>
          <p:nvPr/>
        </p:nvSpPr>
        <p:spPr bwMode="auto">
          <a:xfrm>
            <a:off x="914400" y="5074920"/>
            <a:ext cx="22860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Calibri"/>
              </a:defRPr>
            </a:pPr>
            <a:r>
              <a:rPr/>
              <a:t>Return</a:t>
            </a:r>
            <a:endParaRPr/>
          </a:p>
        </p:txBody>
      </p:sp>
      <p:sp>
        <p:nvSpPr>
          <p:cNvPr id="1647972138" name="TextBox 19"/>
          <p:cNvSpPr txBox="1"/>
          <p:nvPr/>
        </p:nvSpPr>
        <p:spPr bwMode="auto">
          <a:xfrm>
            <a:off x="3200400" y="5074920"/>
            <a:ext cx="73152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500" b="0">
                <a:solidFill>
                  <a:srgbClr val="A0A0A0"/>
                </a:solidFill>
                <a:latin typeface="Calibri"/>
              </a:defRPr>
            </a:pPr>
            <a:r>
              <a:rPr/>
              <a:t>Package result with model, tokens, cost metadata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E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123467" name="Rectangle 1"/>
          <p:cNvSpPr/>
          <p:nvPr/>
        </p:nvSpPr>
        <p:spPr bwMode="auto">
          <a:xfrm>
            <a:off x="0" y="0"/>
            <a:ext cx="12191695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7772195" name="TextBox 2"/>
          <p:cNvSpPr txBox="1"/>
          <p:nvPr/>
        </p:nvSpPr>
        <p:spPr bwMode="auto">
          <a:xfrm>
            <a:off x="914400" y="274320"/>
            <a:ext cx="10058400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4000" b="1">
                <a:solidFill>
                  <a:srgbClr val="00D4AA"/>
                </a:solidFill>
                <a:latin typeface="Calibri"/>
              </a:defRPr>
            </a:pPr>
            <a:r>
              <a:rPr/>
              <a:t>Results</a:t>
            </a:r>
            <a:endParaRPr/>
          </a:p>
        </p:txBody>
      </p:sp>
      <p:sp>
        <p:nvSpPr>
          <p:cNvPr id="2070940797" name="TextBox 3"/>
          <p:cNvSpPr txBox="1"/>
          <p:nvPr/>
        </p:nvSpPr>
        <p:spPr bwMode="auto">
          <a:xfrm>
            <a:off x="731520" y="1097280"/>
            <a:ext cx="2286000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4400" b="1">
                <a:solidFill>
                  <a:srgbClr val="00D4AA"/>
                </a:solidFill>
                <a:latin typeface="Calibri"/>
              </a:defRPr>
            </a:pPr>
            <a:r>
              <a:rPr/>
              <a:t>73</a:t>
            </a:r>
            <a:endParaRPr/>
          </a:p>
        </p:txBody>
      </p:sp>
      <p:sp>
        <p:nvSpPr>
          <p:cNvPr id="1454063336" name="TextBox 4"/>
          <p:cNvSpPr txBox="1"/>
          <p:nvPr/>
        </p:nvSpPr>
        <p:spPr bwMode="auto">
          <a:xfrm>
            <a:off x="731520" y="1737360"/>
            <a:ext cx="22860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0">
                <a:solidFill>
                  <a:srgbClr val="A0A0A0"/>
                </a:solidFill>
                <a:latin typeface="Calibri"/>
              </a:defRPr>
            </a:pPr>
            <a:r>
              <a:rPr/>
              <a:t>Tests Passing</a:t>
            </a:r>
            <a:endParaRPr/>
          </a:p>
        </p:txBody>
      </p:sp>
      <p:sp>
        <p:nvSpPr>
          <p:cNvPr id="742552518" name="TextBox 5"/>
          <p:cNvSpPr txBox="1"/>
          <p:nvPr/>
        </p:nvSpPr>
        <p:spPr bwMode="auto">
          <a:xfrm>
            <a:off x="3657600" y="1097280"/>
            <a:ext cx="2286000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4400" b="1">
                <a:solidFill>
                  <a:srgbClr val="00D4AA"/>
                </a:solidFill>
                <a:latin typeface="Calibri"/>
              </a:defRPr>
            </a:pPr>
            <a:r>
              <a:rPr/>
              <a:t>82%</a:t>
            </a:r>
            <a:endParaRPr/>
          </a:p>
        </p:txBody>
      </p:sp>
      <p:sp>
        <p:nvSpPr>
          <p:cNvPr id="497749782" name="TextBox 6"/>
          <p:cNvSpPr txBox="1"/>
          <p:nvPr/>
        </p:nvSpPr>
        <p:spPr bwMode="auto">
          <a:xfrm>
            <a:off x="3657600" y="1737360"/>
            <a:ext cx="22860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0">
                <a:solidFill>
                  <a:srgbClr val="A0A0A0"/>
                </a:solidFill>
                <a:latin typeface="Calibri"/>
              </a:defRPr>
            </a:pPr>
            <a:r>
              <a:rPr/>
              <a:t>Coverage</a:t>
            </a:r>
            <a:endParaRPr/>
          </a:p>
        </p:txBody>
      </p:sp>
      <p:sp>
        <p:nvSpPr>
          <p:cNvPr id="2063529624" name="TextBox 7"/>
          <p:cNvSpPr txBox="1"/>
          <p:nvPr/>
        </p:nvSpPr>
        <p:spPr bwMode="auto">
          <a:xfrm>
            <a:off x="6583680" y="1097280"/>
            <a:ext cx="2286000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4400" b="1">
                <a:solidFill>
                  <a:srgbClr val="00D4AA"/>
                </a:solidFill>
                <a:latin typeface="Calibri"/>
              </a:defRPr>
            </a:pPr>
            <a:r>
              <a:rPr/>
              <a:t>100%</a:t>
            </a:r>
            <a:endParaRPr/>
          </a:p>
        </p:txBody>
      </p:sp>
      <p:sp>
        <p:nvSpPr>
          <p:cNvPr id="1370394266" name="TextBox 8"/>
          <p:cNvSpPr txBox="1"/>
          <p:nvPr/>
        </p:nvSpPr>
        <p:spPr bwMode="auto">
          <a:xfrm>
            <a:off x="6583680" y="1737360"/>
            <a:ext cx="22860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0">
                <a:solidFill>
                  <a:srgbClr val="A0A0A0"/>
                </a:solidFill>
                <a:latin typeface="Calibri"/>
              </a:defRPr>
            </a:pPr>
            <a:r>
              <a:rPr/>
              <a:t>Accuracy</a:t>
            </a:r>
            <a:endParaRPr/>
          </a:p>
        </p:txBody>
      </p:sp>
      <p:sp>
        <p:nvSpPr>
          <p:cNvPr id="115121097" name="TextBox 9"/>
          <p:cNvSpPr txBox="1"/>
          <p:nvPr/>
        </p:nvSpPr>
        <p:spPr bwMode="auto">
          <a:xfrm>
            <a:off x="9509760" y="1097280"/>
            <a:ext cx="2286000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4400" b="1">
                <a:solidFill>
                  <a:srgbClr val="00D4AA"/>
                </a:solidFill>
                <a:latin typeface="Calibri"/>
              </a:defRPr>
            </a:pPr>
            <a:r>
              <a:rPr/>
              <a:t>$0.002</a:t>
            </a:r>
            <a:endParaRPr/>
          </a:p>
        </p:txBody>
      </p:sp>
      <p:sp>
        <p:nvSpPr>
          <p:cNvPr id="546650483" name="TextBox 10"/>
          <p:cNvSpPr txBox="1"/>
          <p:nvPr/>
        </p:nvSpPr>
        <p:spPr bwMode="auto">
          <a:xfrm>
            <a:off x="9509760" y="1737360"/>
            <a:ext cx="22860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500" b="0">
                <a:solidFill>
                  <a:srgbClr val="A0A0A0"/>
                </a:solidFill>
                <a:latin typeface="Calibri"/>
              </a:defRPr>
            </a:pPr>
            <a:r>
              <a:rPr/>
              <a:t>Cost/Run</a:t>
            </a:r>
            <a:endParaRPr/>
          </a:p>
        </p:txBody>
      </p:sp>
      <p:sp>
        <p:nvSpPr>
          <p:cNvPr id="698164656" name="Rounded Rectangle 11"/>
          <p:cNvSpPr/>
          <p:nvPr/>
        </p:nvSpPr>
        <p:spPr bwMode="auto">
          <a:xfrm flipH="0" flipV="0">
            <a:off x="731519" y="2560320"/>
            <a:ext cx="5303520" cy="2183503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95936540" name="TextBox 12"/>
          <p:cNvSpPr txBox="1"/>
          <p:nvPr/>
        </p:nvSpPr>
        <p:spPr bwMode="auto">
          <a:xfrm>
            <a:off x="960120" y="2697479"/>
            <a:ext cx="484632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rPr/>
              <a:t>Coverage Breakdown</a:t>
            </a:r>
            <a:endParaRPr/>
          </a:p>
        </p:txBody>
      </p:sp>
      <p:sp>
        <p:nvSpPr>
          <p:cNvPr id="1609658953" name="TextBox 13"/>
          <p:cNvSpPr txBox="1"/>
          <p:nvPr/>
        </p:nvSpPr>
        <p:spPr bwMode="auto">
          <a:xfrm>
            <a:off x="960120" y="3154679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models.py: 100%</a:t>
            </a:r>
            <a:endParaRPr/>
          </a:p>
        </p:txBody>
      </p:sp>
      <p:sp>
        <p:nvSpPr>
          <p:cNvPr id="868337218" name="TextBox 14"/>
          <p:cNvSpPr txBox="1"/>
          <p:nvPr/>
        </p:nvSpPr>
        <p:spPr bwMode="auto">
          <a:xfrm>
            <a:off x="960120" y="3447287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tasks.py: 91%</a:t>
            </a:r>
            <a:endParaRPr/>
          </a:p>
        </p:txBody>
      </p:sp>
      <p:sp>
        <p:nvSpPr>
          <p:cNvPr id="891411580" name="TextBox 15"/>
          <p:cNvSpPr txBox="1"/>
          <p:nvPr/>
        </p:nvSpPr>
        <p:spPr bwMode="auto">
          <a:xfrm>
            <a:off x="960120" y="3739896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router.py: 86%</a:t>
            </a:r>
            <a:endParaRPr/>
          </a:p>
        </p:txBody>
      </p:sp>
      <p:sp>
        <p:nvSpPr>
          <p:cNvPr id="676830114" name="TextBox 16"/>
          <p:cNvSpPr txBox="1"/>
          <p:nvPr/>
        </p:nvSpPr>
        <p:spPr bwMode="auto">
          <a:xfrm>
            <a:off x="960120" y="4032504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- 53 source files, 301 statements</a:t>
            </a:r>
            <a:endParaRPr/>
          </a:p>
        </p:txBody>
      </p:sp>
      <p:sp>
        <p:nvSpPr>
          <p:cNvPr id="1177264268" name="TextBox 17"/>
          <p:cNvSpPr txBox="1"/>
          <p:nvPr/>
        </p:nvSpPr>
        <p:spPr bwMode="auto">
          <a:xfrm>
            <a:off x="960120" y="4325112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- 4 test files, pre-commit QA gate</a:t>
            </a:r>
            <a:endParaRPr/>
          </a:p>
        </p:txBody>
      </p:sp>
      <p:sp>
        <p:nvSpPr>
          <p:cNvPr id="1946834520" name="Rounded Rectangle 18"/>
          <p:cNvSpPr/>
          <p:nvPr/>
        </p:nvSpPr>
        <p:spPr bwMode="auto">
          <a:xfrm flipH="0" flipV="0">
            <a:off x="6400800" y="2560320"/>
            <a:ext cx="5303520" cy="2090121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14079747" name="TextBox 19"/>
          <p:cNvSpPr txBox="1"/>
          <p:nvPr/>
        </p:nvSpPr>
        <p:spPr bwMode="auto">
          <a:xfrm>
            <a:off x="6629400" y="2697479"/>
            <a:ext cx="484632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3D9DF3"/>
                </a:solidFill>
                <a:latin typeface="Calibri"/>
              </a:defRPr>
            </a:pPr>
            <a:r>
              <a:rPr/>
              <a:t>Key Achievements</a:t>
            </a:r>
            <a:endParaRPr/>
          </a:p>
        </p:txBody>
      </p:sp>
      <p:sp>
        <p:nvSpPr>
          <p:cNvPr id="1687806793" name="TextBox 20"/>
          <p:cNvSpPr txBox="1"/>
          <p:nvPr/>
        </p:nvSpPr>
        <p:spPr bwMode="auto">
          <a:xfrm>
            <a:off x="6629400" y="3154679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OpenSpec validated — 77 documented tasks</a:t>
            </a:r>
            <a:endParaRPr/>
          </a:p>
        </p:txBody>
      </p:sp>
      <p:sp>
        <p:nvSpPr>
          <p:cNvPr id="1088454954" name="TextBox 21"/>
          <p:cNvSpPr txBox="1"/>
          <p:nvPr/>
        </p:nvSpPr>
        <p:spPr bwMode="auto">
          <a:xfrm>
            <a:off x="6629400" y="3447287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Gemma 4 routed 9/14 benchmark tasks</a:t>
            </a:r>
            <a:endParaRPr/>
          </a:p>
        </p:txBody>
      </p:sp>
      <p:sp>
        <p:nvSpPr>
          <p:cNvPr id="376247322" name="TextBox 22"/>
          <p:cNvSpPr txBox="1"/>
          <p:nvPr/>
        </p:nvSpPr>
        <p:spPr bwMode="auto">
          <a:xfrm>
            <a:off x="6629400" y="3739896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- 100% accuracy at $0.002 per run</a:t>
            </a:r>
            <a:endParaRPr/>
          </a:p>
        </p:txBody>
      </p:sp>
      <p:sp>
        <p:nvSpPr>
          <p:cNvPr id="1128561021" name="TextBox 23"/>
          <p:cNvSpPr txBox="1"/>
          <p:nvPr/>
        </p:nvSpPr>
        <p:spPr bwMode="auto">
          <a:xfrm>
            <a:off x="6629400" y="4032504"/>
            <a:ext cx="48463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Docker + Streamlit + CLI — 3 delivery modes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E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5284531" name="Rectangle 1"/>
          <p:cNvSpPr/>
          <p:nvPr/>
        </p:nvSpPr>
        <p:spPr bwMode="auto">
          <a:xfrm>
            <a:off x="0" y="0"/>
            <a:ext cx="12191695" cy="54864"/>
          </a:xfrm>
          <a:prstGeom prst="rect">
            <a:avLst/>
          </a:prstGeom>
          <a:solidFill>
            <a:srgbClr val="3D9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49602887" name="TextBox 2"/>
          <p:cNvSpPr txBox="1"/>
          <p:nvPr/>
        </p:nvSpPr>
        <p:spPr bwMode="auto">
          <a:xfrm>
            <a:off x="914400" y="274320"/>
            <a:ext cx="10058400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4000" b="1">
                <a:solidFill>
                  <a:srgbClr val="3D9DF3"/>
                </a:solidFill>
                <a:latin typeface="Calibri"/>
              </a:defRPr>
            </a:pPr>
            <a:r>
              <a:rPr/>
              <a:t>Tech Stack</a:t>
            </a:r>
            <a:endParaRPr/>
          </a:p>
        </p:txBody>
      </p:sp>
      <p:sp>
        <p:nvSpPr>
          <p:cNvPr id="303838505" name="TextBox 3"/>
          <p:cNvSpPr txBox="1"/>
          <p:nvPr/>
        </p:nvSpPr>
        <p:spPr bwMode="auto">
          <a:xfrm>
            <a:off x="731520" y="1371600"/>
            <a:ext cx="50292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rPr/>
              <a:t>Python 3.13+</a:t>
            </a:r>
            <a:endParaRPr/>
          </a:p>
        </p:txBody>
      </p:sp>
      <p:sp>
        <p:nvSpPr>
          <p:cNvPr id="521815212" name="TextBox 4"/>
          <p:cNvSpPr txBox="1"/>
          <p:nvPr/>
        </p:nvSpPr>
        <p:spPr bwMode="auto">
          <a:xfrm>
            <a:off x="1005840" y="1737360"/>
            <a:ext cx="47548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rPr/>
              <a:t>uv, pytest, ruff — modern toolchain</a:t>
            </a:r>
            <a:endParaRPr/>
          </a:p>
        </p:txBody>
      </p:sp>
      <p:sp>
        <p:nvSpPr>
          <p:cNvPr id="36098871" name="TextBox 5"/>
          <p:cNvSpPr txBox="1"/>
          <p:nvPr/>
        </p:nvSpPr>
        <p:spPr bwMode="auto">
          <a:xfrm>
            <a:off x="6400800" y="1371600"/>
            <a:ext cx="50292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rPr/>
              <a:t>Streamlit 1.59</a:t>
            </a:r>
            <a:endParaRPr/>
          </a:p>
        </p:txBody>
      </p:sp>
      <p:sp>
        <p:nvSpPr>
          <p:cNvPr id="762491842" name="TextBox 6"/>
          <p:cNvSpPr txBox="1"/>
          <p:nvPr/>
        </p:nvSpPr>
        <p:spPr bwMode="auto">
          <a:xfrm>
            <a:off x="6675120" y="1737360"/>
            <a:ext cx="47548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rPr/>
              <a:t>Interactive Web UI, forms, dataframes</a:t>
            </a:r>
            <a:endParaRPr/>
          </a:p>
        </p:txBody>
      </p:sp>
      <p:sp>
        <p:nvSpPr>
          <p:cNvPr id="2011393866" name="TextBox 7"/>
          <p:cNvSpPr txBox="1"/>
          <p:nvPr/>
        </p:nvSpPr>
        <p:spPr bwMode="auto">
          <a:xfrm>
            <a:off x="731520" y="2926080"/>
            <a:ext cx="50292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rPr/>
              <a:t>Fireworks AI</a:t>
            </a:r>
            <a:endParaRPr/>
          </a:p>
        </p:txBody>
      </p:sp>
      <p:sp>
        <p:nvSpPr>
          <p:cNvPr id="428414433" name="TextBox 8"/>
          <p:cNvSpPr txBox="1"/>
          <p:nvPr/>
        </p:nvSpPr>
        <p:spPr bwMode="auto">
          <a:xfrm>
            <a:off x="1005840" y="3291839"/>
            <a:ext cx="47548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rPr/>
              <a:t>Serverless + dedicated H200 inference</a:t>
            </a:r>
            <a:endParaRPr/>
          </a:p>
        </p:txBody>
      </p:sp>
      <p:sp>
        <p:nvSpPr>
          <p:cNvPr id="1524829390" name="TextBox 9"/>
          <p:cNvSpPr txBox="1"/>
          <p:nvPr/>
        </p:nvSpPr>
        <p:spPr bwMode="auto">
          <a:xfrm>
            <a:off x="6400800" y="2926080"/>
            <a:ext cx="50292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rPr/>
              <a:t>AMD ROCm</a:t>
            </a:r>
            <a:endParaRPr/>
          </a:p>
        </p:txBody>
      </p:sp>
      <p:sp>
        <p:nvSpPr>
          <p:cNvPr id="1912651396" name="TextBox 10"/>
          <p:cNvSpPr txBox="1"/>
          <p:nvPr/>
        </p:nvSpPr>
        <p:spPr bwMode="auto">
          <a:xfrm>
            <a:off x="6675120" y="3291839"/>
            <a:ext cx="47548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rPr/>
              <a:t>Local Gemma 4 E4B via llama.cpp, 48GB VRAM</a:t>
            </a:r>
            <a:endParaRPr/>
          </a:p>
        </p:txBody>
      </p:sp>
      <p:sp>
        <p:nvSpPr>
          <p:cNvPr id="707786804" name="TextBox 11"/>
          <p:cNvSpPr txBox="1"/>
          <p:nvPr/>
        </p:nvSpPr>
        <p:spPr bwMode="auto">
          <a:xfrm>
            <a:off x="731520" y="4220060"/>
            <a:ext cx="50292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rPr/>
              <a:t>Docker/Podman</a:t>
            </a:r>
            <a:endParaRPr/>
          </a:p>
        </p:txBody>
      </p:sp>
      <p:sp>
        <p:nvSpPr>
          <p:cNvPr id="325528162" name="TextBox 12"/>
          <p:cNvSpPr txBox="1"/>
          <p:nvPr/>
        </p:nvSpPr>
        <p:spPr bwMode="auto">
          <a:xfrm>
            <a:off x="1005840" y="4585820"/>
            <a:ext cx="47548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rPr/>
              <a:t>Containerized with Quadlet systemd</a:t>
            </a:r>
            <a:endParaRPr/>
          </a:p>
        </p:txBody>
      </p:sp>
      <p:sp>
        <p:nvSpPr>
          <p:cNvPr id="1442862582" name="TextBox 13"/>
          <p:cNvSpPr txBox="1"/>
          <p:nvPr/>
        </p:nvSpPr>
        <p:spPr bwMode="auto">
          <a:xfrm>
            <a:off x="6400800" y="4265780"/>
            <a:ext cx="50292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rPr/>
              <a:t>OpenSpec SDD</a:t>
            </a:r>
            <a:endParaRPr/>
          </a:p>
        </p:txBody>
      </p:sp>
      <p:sp>
        <p:nvSpPr>
          <p:cNvPr id="1927746197" name="TextBox 14"/>
          <p:cNvSpPr txBox="1"/>
          <p:nvPr/>
        </p:nvSpPr>
        <p:spPr bwMode="auto">
          <a:xfrm>
            <a:off x="6675120" y="4640580"/>
            <a:ext cx="47548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A0A0A0"/>
                </a:solidFill>
                <a:latin typeface="Calibri"/>
              </a:defRPr>
            </a:pPr>
            <a:r>
              <a:rPr/>
              <a:t>77 documented tasks, CLI-validated specs</a:t>
            </a:r>
            <a:endParaRPr/>
          </a:p>
        </p:txBody>
      </p:sp>
      <p:pic>
        <p:nvPicPr>
          <p:cNvPr id="53126089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47494" y="5006340"/>
            <a:ext cx="10744200" cy="1819274"/>
          </a:xfrm>
          <a:prstGeom prst="rect">
            <a:avLst/>
          </a:prstGeom>
        </p:spPr>
      </p:pic>
      <p:pic>
        <p:nvPicPr>
          <p:cNvPr id="67155826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0" y="5087083"/>
            <a:ext cx="4287246" cy="142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E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201448" name="Rectangle 1"/>
          <p:cNvSpPr/>
          <p:nvPr/>
        </p:nvSpPr>
        <p:spPr bwMode="auto">
          <a:xfrm>
            <a:off x="0" y="0"/>
            <a:ext cx="12191695" cy="54864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02200467" name="TextBox 2"/>
          <p:cNvSpPr txBox="1"/>
          <p:nvPr/>
        </p:nvSpPr>
        <p:spPr bwMode="auto">
          <a:xfrm>
            <a:off x="914400" y="274320"/>
            <a:ext cx="10058400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4000" b="1">
                <a:solidFill>
                  <a:srgbClr val="FFBF00"/>
                </a:solidFill>
                <a:latin typeface="Calibri"/>
              </a:defRPr>
            </a:pPr>
            <a:r>
              <a:rPr/>
              <a:t>Gemma Prize</a:t>
            </a:r>
            <a:endParaRPr/>
          </a:p>
        </p:txBody>
      </p:sp>
      <p:sp>
        <p:nvSpPr>
          <p:cNvPr id="1365999463" name="Rounded Rectangle 3"/>
          <p:cNvSpPr/>
          <p:nvPr/>
        </p:nvSpPr>
        <p:spPr bwMode="auto">
          <a:xfrm flipH="0" flipV="0">
            <a:off x="731519" y="1188720"/>
            <a:ext cx="10515600" cy="187422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6931347" name="TextBox 4"/>
          <p:cNvSpPr txBox="1"/>
          <p:nvPr/>
        </p:nvSpPr>
        <p:spPr bwMode="auto">
          <a:xfrm>
            <a:off x="960120" y="1325880"/>
            <a:ext cx="100584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FFBF00"/>
                </a:solidFill>
                <a:latin typeface="Calibri"/>
              </a:defRPr>
            </a:pPr>
            <a:r>
              <a:rPr/>
              <a:t>Gemma 4 Integration</a:t>
            </a:r>
            <a:endParaRPr/>
          </a:p>
        </p:txBody>
      </p:sp>
      <p:sp>
        <p:nvSpPr>
          <p:cNvPr id="388863762" name="TextBox 5"/>
          <p:cNvSpPr txBox="1"/>
          <p:nvPr/>
        </p:nvSpPr>
        <p:spPr bwMode="auto">
          <a:xfrm>
            <a:off x="960120" y="1783080"/>
            <a:ext cx="10058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/>
              <a:t>26B</a:t>
            </a:r>
            <a:endParaRPr/>
          </a:p>
        </p:txBody>
      </p:sp>
      <p:sp>
        <p:nvSpPr>
          <p:cNvPr id="428276933" name="TextBox 6"/>
          <p:cNvSpPr txBox="1"/>
          <p:nvPr/>
        </p:nvSpPr>
        <p:spPr bwMode="auto">
          <a:xfrm>
            <a:off x="1143000" y="2057400"/>
            <a:ext cx="98755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C0C0C0"/>
                </a:solidFill>
                <a:latin typeface="Calibri"/>
              </a:defRPr>
            </a:pPr>
            <a:r>
              <a:rPr/>
              <a:t>Dedicated H200 deployment (4x NVIDIA H200 141GB, ~$28/hr)</a:t>
            </a:r>
            <a:endParaRPr/>
          </a:p>
        </p:txBody>
      </p:sp>
      <p:sp>
        <p:nvSpPr>
          <p:cNvPr id="944394845" name="TextBox 7"/>
          <p:cNvSpPr txBox="1"/>
          <p:nvPr/>
        </p:nvSpPr>
        <p:spPr bwMode="auto">
          <a:xfrm>
            <a:off x="960120" y="2423160"/>
            <a:ext cx="100584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/>
              <a:t>E4B</a:t>
            </a:r>
            <a:endParaRPr/>
          </a:p>
        </p:txBody>
      </p:sp>
      <p:sp>
        <p:nvSpPr>
          <p:cNvPr id="541101609" name="TextBox 8"/>
          <p:cNvSpPr txBox="1"/>
          <p:nvPr/>
        </p:nvSpPr>
        <p:spPr bwMode="auto">
          <a:xfrm>
            <a:off x="1143000" y="2697480"/>
            <a:ext cx="987552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200" b="0">
                <a:solidFill>
                  <a:srgbClr val="C0C0C0"/>
                </a:solidFill>
                <a:latin typeface="Calibri"/>
              </a:defRPr>
            </a:pPr>
            <a:r>
              <a:rPr/>
              <a:t>Local inference via llama.cpp on AMD ROCm GPU (48GB VRAM, $0 cost)</a:t>
            </a:r>
            <a:endParaRPr/>
          </a:p>
        </p:txBody>
      </p:sp>
      <p:sp>
        <p:nvSpPr>
          <p:cNvPr id="1825746978" name="Rounded Rectangle 9"/>
          <p:cNvSpPr/>
          <p:nvPr/>
        </p:nvSpPr>
        <p:spPr bwMode="auto">
          <a:xfrm flipH="0" flipV="0">
            <a:off x="731519" y="3200400"/>
            <a:ext cx="5029199" cy="1935629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44027026" name="TextBox 10"/>
          <p:cNvSpPr txBox="1"/>
          <p:nvPr/>
        </p:nvSpPr>
        <p:spPr bwMode="auto">
          <a:xfrm>
            <a:off x="960120" y="3337560"/>
            <a:ext cx="45720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rPr/>
              <a:t>Prize Requirements</a:t>
            </a:r>
            <a:endParaRPr/>
          </a:p>
        </p:txBody>
      </p:sp>
      <p:sp>
        <p:nvSpPr>
          <p:cNvPr id="2114548232" name="TextBox 11"/>
          <p:cNvSpPr txBox="1"/>
          <p:nvPr/>
        </p:nvSpPr>
        <p:spPr bwMode="auto">
          <a:xfrm>
            <a:off x="960120" y="3794760"/>
            <a:ext cx="45720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Gemma 4 model used in routing agent</a:t>
            </a:r>
            <a:endParaRPr/>
          </a:p>
        </p:txBody>
      </p:sp>
      <p:sp>
        <p:nvSpPr>
          <p:cNvPr id="735286693" name="TextBox 12"/>
          <p:cNvSpPr txBox="1"/>
          <p:nvPr/>
        </p:nvSpPr>
        <p:spPr bwMode="auto">
          <a:xfrm>
            <a:off x="960120" y="4087368"/>
            <a:ext cx="45720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Task-aware selection demonstrates efficiency</a:t>
            </a:r>
            <a:endParaRPr/>
          </a:p>
        </p:txBody>
      </p:sp>
      <p:sp>
        <p:nvSpPr>
          <p:cNvPr id="866621747" name="TextBox 13"/>
          <p:cNvSpPr txBox="1"/>
          <p:nvPr/>
        </p:nvSpPr>
        <p:spPr bwMode="auto">
          <a:xfrm>
            <a:off x="960120" y="4379976"/>
            <a:ext cx="45720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Local Gemma 4 E4B for zero-cost ranking</a:t>
            </a:r>
            <a:endParaRPr/>
          </a:p>
        </p:txBody>
      </p:sp>
      <p:sp>
        <p:nvSpPr>
          <p:cNvPr id="889403572" name="TextBox 14"/>
          <p:cNvSpPr txBox="1"/>
          <p:nvPr/>
        </p:nvSpPr>
        <p:spPr bwMode="auto">
          <a:xfrm>
            <a:off x="960120" y="4672584"/>
            <a:ext cx="45720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Hybrid: dedicated + local deployment strategy</a:t>
            </a:r>
            <a:endParaRPr/>
          </a:p>
        </p:txBody>
      </p:sp>
      <p:sp>
        <p:nvSpPr>
          <p:cNvPr id="1464562224" name="Rounded Rectangle 15"/>
          <p:cNvSpPr/>
          <p:nvPr/>
        </p:nvSpPr>
        <p:spPr bwMode="auto">
          <a:xfrm flipH="0" flipV="0">
            <a:off x="6400800" y="3200400"/>
            <a:ext cx="5029199" cy="1935629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13600137" name="TextBox 16"/>
          <p:cNvSpPr txBox="1"/>
          <p:nvPr/>
        </p:nvSpPr>
        <p:spPr bwMode="auto">
          <a:xfrm>
            <a:off x="6629400" y="3337560"/>
            <a:ext cx="4572000" cy="411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rPr/>
              <a:t>Cost Efficiency</a:t>
            </a:r>
            <a:endParaRPr/>
          </a:p>
        </p:txBody>
      </p:sp>
      <p:sp>
        <p:nvSpPr>
          <p:cNvPr id="1780555120" name="TextBox 17"/>
          <p:cNvSpPr txBox="1"/>
          <p:nvPr/>
        </p:nvSpPr>
        <p:spPr bwMode="auto">
          <a:xfrm>
            <a:off x="6629400" y="3794760"/>
            <a:ext cx="45720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Dedicated H200: ~$78 total (2.54 GPU hours)</a:t>
            </a:r>
            <a:endParaRPr/>
          </a:p>
        </p:txBody>
      </p:sp>
      <p:sp>
        <p:nvSpPr>
          <p:cNvPr id="1664394367" name="TextBox 18"/>
          <p:cNvSpPr txBox="1"/>
          <p:nvPr/>
        </p:nvSpPr>
        <p:spPr bwMode="auto">
          <a:xfrm>
            <a:off x="6629400" y="4087368"/>
            <a:ext cx="45720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Local E4B: $0 per inference (free tier)</a:t>
            </a:r>
            <a:endParaRPr/>
          </a:p>
        </p:txBody>
      </p:sp>
      <p:sp>
        <p:nvSpPr>
          <p:cNvPr id="1318815492" name="TextBox 19"/>
          <p:cNvSpPr txBox="1"/>
          <p:nvPr/>
        </p:nvSpPr>
        <p:spPr bwMode="auto">
          <a:xfrm>
            <a:off x="6629400" y="4379976"/>
            <a:ext cx="45720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Serverless: ~$0.002 per benchmark run</a:t>
            </a:r>
            <a:endParaRPr/>
          </a:p>
        </p:txBody>
      </p:sp>
      <p:sp>
        <p:nvSpPr>
          <p:cNvPr id="1402002881" name="TextBox 20"/>
          <p:cNvSpPr txBox="1"/>
          <p:nvPr/>
        </p:nvSpPr>
        <p:spPr bwMode="auto">
          <a:xfrm>
            <a:off x="6629400" y="4672584"/>
            <a:ext cx="4572000" cy="274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defRPr sz="1300" b="0">
                <a:solidFill>
                  <a:srgbClr val="C0C0C0"/>
                </a:solidFill>
                <a:latin typeface="Calibri"/>
              </a:defRPr>
            </a:pPr>
            <a:r>
              <a:rPr/>
              <a:t>- Total under $80 for full development + eval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80A1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790043" name="Rectangle 1"/>
          <p:cNvSpPr/>
          <p:nvPr/>
        </p:nvSpPr>
        <p:spPr bwMode="auto">
          <a:xfrm>
            <a:off x="0" y="0"/>
            <a:ext cx="12191695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26372498" name="Rectangle 2"/>
          <p:cNvSpPr/>
          <p:nvPr/>
        </p:nvSpPr>
        <p:spPr bwMode="auto">
          <a:xfrm>
            <a:off x="0" y="6784848"/>
            <a:ext cx="12191695" cy="73152"/>
          </a:xfrm>
          <a:prstGeom prst="rect">
            <a:avLst/>
          </a:prstGeom>
          <a:solidFill>
            <a:srgbClr val="3D9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15137333" name="TextBox 3"/>
          <p:cNvSpPr txBox="1"/>
          <p:nvPr/>
        </p:nvSpPr>
        <p:spPr bwMode="auto"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5200" b="1">
                <a:solidFill>
                  <a:srgbClr val="00D4AA"/>
                </a:solidFill>
                <a:latin typeface="Calibri"/>
              </a:defRPr>
            </a:pPr>
            <a:r>
              <a:rPr/>
              <a:t>Live Demo</a:t>
            </a:r>
            <a:endParaRPr/>
          </a:p>
        </p:txBody>
      </p:sp>
      <p:sp>
        <p:nvSpPr>
          <p:cNvPr id="1218489857" name="TextBox 4"/>
          <p:cNvSpPr txBox="1"/>
          <p:nvPr/>
        </p:nvSpPr>
        <p:spPr bwMode="auto">
          <a:xfrm>
            <a:off x="914400" y="3200400"/>
            <a:ext cx="10058400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200" b="0">
                <a:solidFill>
                  <a:srgbClr val="3D9DF3"/>
                </a:solidFill>
                <a:latin typeface="Calibri"/>
              </a:defRPr>
            </a:pPr>
            <a:r>
              <a:rPr/>
              <a:t>Streamlit Web UI  |  CLI Interface  |  Benchmark Evaluation</a:t>
            </a:r>
            <a:endParaRPr/>
          </a:p>
        </p:txBody>
      </p:sp>
      <p:sp>
        <p:nvSpPr>
          <p:cNvPr id="255683906" name="Rectangle 5"/>
          <p:cNvSpPr/>
          <p:nvPr/>
        </p:nvSpPr>
        <p:spPr bwMode="auto">
          <a:xfrm>
            <a:off x="3200400" y="4389120"/>
            <a:ext cx="5486400" cy="27432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35694878" name="TextBox 6"/>
          <p:cNvSpPr txBox="1"/>
          <p:nvPr/>
        </p:nvSpPr>
        <p:spPr bwMode="auto"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700" b="0">
                <a:solidFill>
                  <a:srgbClr val="A0A0A0"/>
                </a:solidFill>
                <a:latin typeface="Calibri"/>
              </a:defRPr>
            </a:pPr>
            <a:r>
              <a:rPr/>
              <a:t>github.com/PostboxRetinal/amd-hackathon-act2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6080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5579240" name="Rectangle 1"/>
          <p:cNvSpPr/>
          <p:nvPr/>
        </p:nvSpPr>
        <p:spPr bwMode="auto">
          <a:xfrm>
            <a:off x="0" y="0"/>
            <a:ext cx="12191695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28254041" name="Rectangle 2"/>
          <p:cNvSpPr/>
          <p:nvPr/>
        </p:nvSpPr>
        <p:spPr bwMode="auto">
          <a:xfrm>
            <a:off x="0" y="6784848"/>
            <a:ext cx="12191695" cy="73152"/>
          </a:xfrm>
          <a:prstGeom prst="rect">
            <a:avLst/>
          </a:prstGeom>
          <a:solidFill>
            <a:srgbClr val="3D9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13456056" name="TextBox 3"/>
          <p:cNvSpPr txBox="1"/>
          <p:nvPr/>
        </p:nvSpPr>
        <p:spPr bwMode="auto"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6000" b="1">
                <a:solidFill>
                  <a:srgbClr val="00D4AA"/>
                </a:solidFill>
                <a:latin typeface="Calibri"/>
              </a:defRPr>
            </a:pPr>
            <a:r>
              <a:rPr/>
              <a:t>Thank You</a:t>
            </a:r>
            <a:endParaRPr/>
          </a:p>
        </p:txBody>
      </p:sp>
      <p:sp>
        <p:nvSpPr>
          <p:cNvPr id="223924469" name="TextBox 4"/>
          <p:cNvSpPr txBox="1"/>
          <p:nvPr/>
        </p:nvSpPr>
        <p:spPr bwMode="auto">
          <a:xfrm>
            <a:off x="914400" y="3200400"/>
            <a:ext cx="10058400" cy="640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600" b="0">
                <a:solidFill>
                  <a:srgbClr val="3D9DF3"/>
                </a:solidFill>
                <a:latin typeface="Calibri"/>
              </a:defRPr>
            </a:pPr>
            <a:r>
              <a:rPr/>
              <a:t>Wayfinder — Hybrid Token-Efficient Routing Agent</a:t>
            </a:r>
            <a:endParaRPr/>
          </a:p>
        </p:txBody>
      </p:sp>
      <p:sp>
        <p:nvSpPr>
          <p:cNvPr id="2112102463" name="Rectangle 5"/>
          <p:cNvSpPr/>
          <p:nvPr/>
        </p:nvSpPr>
        <p:spPr bwMode="auto">
          <a:xfrm>
            <a:off x="4114800" y="4114800"/>
            <a:ext cx="3657600" cy="27432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38302792" name="TextBox 6"/>
          <p:cNvSpPr txBox="1"/>
          <p:nvPr/>
        </p:nvSpPr>
        <p:spPr bwMode="auto">
          <a:xfrm>
            <a:off x="914400" y="4480560"/>
            <a:ext cx="100584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2200" b="0">
                <a:solidFill>
                  <a:srgbClr val="A0A0A0"/>
                </a:solidFill>
                <a:latin typeface="Calibri"/>
              </a:defRPr>
            </a:pPr>
            <a:r>
              <a:rPr/>
              <a:t>Questions?</a:t>
            </a:r>
            <a:endParaRPr/>
          </a:p>
        </p:txBody>
      </p:sp>
      <p:sp>
        <p:nvSpPr>
          <p:cNvPr id="242254783" name="TextBox 7"/>
          <p:cNvSpPr txBox="1"/>
          <p:nvPr/>
        </p:nvSpPr>
        <p:spPr bwMode="auto"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defRPr sz="1300" b="0">
                <a:solidFill>
                  <a:srgbClr val="A0A0A0"/>
                </a:solidFill>
                <a:latin typeface="Calibri"/>
              </a:defRPr>
            </a:pPr>
            <a:r>
              <a:rPr/>
              <a:t>PostboxRetinal — AMD Hackathon ACT II 2026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9</Slides>
  <Notes>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2026-07-13T11:44:50Z</dcterms:modified>
  <cp:category/>
</cp:coreProperties>
</file>